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E76F51"/>
                </a:solidFill>
                <a:latin typeface="Calibri"/>
              </a:rPr>
              <a:t>БІЗНЕС-ПРОГНОЗУВАННЯ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0E2D5C"/>
                </a:solidFill>
                <a:latin typeface="Calibri"/>
              </a:rPr>
              <a:t>Прогноз продажу товарів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2044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333333"/>
                </a:solidFill>
                <a:latin typeface="Calibri"/>
              </a:rPr>
              <a:t>у розрізі SKU × магазин на 4 тижні наперед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572000"/>
            <a:ext cx="1097280" cy="45720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48006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888888"/>
                </a:solidFill>
                <a:latin typeface="Calibri"/>
              </a:rPr>
              <a:t>Виконавець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0749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333333"/>
                </a:solidFill>
                <a:latin typeface="Calibri"/>
              </a:rPr>
              <a:t>Горбунова Крістіна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3949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група УМ-з31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76F51"/>
                </a:solidFill>
                <a:latin typeface="Calibri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0E2D5C"/>
                </a:solidFill>
                <a:latin typeface="Calibri"/>
              </a:rPr>
              <a:t>Бізнес-проблема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457200" cy="36576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5486400" cy="256032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E76F51"/>
                </a:solidFill>
                <a:latin typeface="Calibri"/>
              </a:rPr>
              <a:t>OUT-OF-STOCK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23160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E2D5C"/>
                </a:solidFill>
                <a:latin typeface="Calibri"/>
              </a:rPr>
              <a:t>Товар закінчився на складі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063240"/>
            <a:ext cx="50292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•  клієнт не знаходить товар і йде до конкурента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•  пряма втрата виручки (GMV)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•  ризик зниження customer retention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828800"/>
            <a:ext cx="5486400" cy="256032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0574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E76F51"/>
                </a:solidFill>
                <a:latin typeface="Calibri"/>
              </a:rPr>
              <a:t>OVER-STOCK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423160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E2D5C"/>
                </a:solidFill>
                <a:latin typeface="Calibri"/>
              </a:rPr>
              <a:t>Перевитрата на складі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3063240"/>
            <a:ext cx="50292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•  заморожені оборотні кошти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•  витрати на зберігання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•  ризик уцінки і списання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937760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 i="1">
                <a:solidFill>
                  <a:srgbClr val="333333"/>
                </a:solidFill>
                <a:latin typeface="Calibri"/>
              </a:rPr>
              <a:t>Ручне планування десятків тисяч SKU не масштабується.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44068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0">
                <a:solidFill>
                  <a:srgbClr val="888888"/>
                </a:solidFill>
                <a:latin typeface="Calibri"/>
              </a:rPr>
              <a:t>Потрібен автоматичний прогноз продажів у розрізі SKU × магазин.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88888"/>
                </a:solidFill>
                <a:latin typeface="Calibri"/>
              </a:rPr>
              <a:t>SKU Sales Forecast  ·  УМ-з31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649224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888888"/>
                </a:solidFill>
                <a:latin typeface="Calibri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76F51"/>
                </a:solidFill>
                <a:latin typeface="Calibri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0E2D5C"/>
                </a:solidFill>
                <a:latin typeface="Calibri"/>
              </a:rPr>
              <a:t>Мета проекту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457200" cy="36576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333333"/>
                </a:solidFill>
                <a:latin typeface="Calibri"/>
              </a:rPr>
              <a:t>Спрогнозувати тижневі продажі у розрізі SKU × магазин на 4 тижні наперед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743200"/>
            <a:ext cx="3657600" cy="16916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97180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200" b="1" i="0">
                <a:solidFill>
                  <a:srgbClr val="0E2D5C"/>
                </a:solidFill>
                <a:latin typeface="Calibri"/>
              </a:rPr>
              <a:t>SKU × store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9476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333333"/>
                </a:solidFill>
                <a:latin typeface="Calibri"/>
              </a:rPr>
              <a:t>гранулярність прогнозу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2743200"/>
            <a:ext cx="3657600" cy="16916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297180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200" b="1" i="0">
                <a:solidFill>
                  <a:srgbClr val="0E2D5C"/>
                </a:solidFill>
                <a:latin typeface="Calibri"/>
              </a:rPr>
              <a:t>тиждень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379476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333333"/>
                </a:solidFill>
                <a:latin typeface="Calibri"/>
              </a:rPr>
              <a:t>часовий крок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2743200"/>
            <a:ext cx="3657600" cy="16916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297180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200" b="1" i="0">
                <a:solidFill>
                  <a:srgbClr val="0E2D5C"/>
                </a:solidFill>
                <a:latin typeface="Calibri"/>
              </a:rPr>
              <a:t>4 тижні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379476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333333"/>
                </a:solidFill>
                <a:latin typeface="Calibri"/>
              </a:rPr>
              <a:t>горизонт прогнозу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93776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888888"/>
                </a:solidFill>
                <a:latin typeface="Calibri"/>
              </a:rPr>
              <a:t>Формула планування замовлення: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86000" y="5349240"/>
            <a:ext cx="7589520" cy="731520"/>
          </a:xfrm>
          <a:prstGeom prst="roundRect">
            <a:avLst/>
          </a:prstGeom>
          <a:solidFill>
            <a:srgbClr val="0E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86000" y="5458968"/>
            <a:ext cx="7589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onsolas"/>
              </a:rPr>
              <a:t>Q = Fct − St − GiT + SS_Fct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88888"/>
                </a:solidFill>
                <a:latin typeface="Calibri"/>
              </a:rPr>
              <a:t>SKU Sales Forecast  ·  УМ-з31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649224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888888"/>
                </a:solidFill>
                <a:latin typeface="Calibri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76F51"/>
                </a:solidFill>
                <a:latin typeface="Calibri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0E2D5C"/>
                </a:solidFill>
                <a:latin typeface="Calibri"/>
              </a:rPr>
              <a:t>Дані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457200" cy="36576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E2D5C"/>
                </a:solidFill>
                <a:latin typeface="Calibri"/>
              </a:rPr>
              <a:t>Синтетичний датасет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48640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 3 категорії: ноутбуки, смартфони, холодильники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 15 SKU × 2 магазини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 366 днів історії (повний рік)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 Тижнева і річна сезонність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 Свята: 8 березня, 1 травня, 24 серпня, Black Friday, Новий рік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 Випадкові акції зі знижкою −10%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82880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E2D5C"/>
                </a:solidFill>
                <a:latin typeface="Calibri"/>
              </a:rPr>
              <a:t>В цифрах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2377440"/>
            <a:ext cx="2377440" cy="13716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606040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200" b="1" i="0">
                <a:solidFill>
                  <a:srgbClr val="0E2D5C"/>
                </a:solidFill>
                <a:latin typeface="Calibri"/>
              </a:rPr>
              <a:t>10 980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342900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333333"/>
                </a:solidFill>
                <a:latin typeface="Calibri"/>
              </a:rPr>
              <a:t>рядків датасету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35440" y="2377440"/>
            <a:ext cx="2377440" cy="13716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0" y="2606040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200" b="1" i="0">
                <a:solidFill>
                  <a:srgbClr val="0E2D5C"/>
                </a:solidFill>
                <a:latin typeface="Calibri"/>
              </a:rPr>
              <a:t>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0" y="342900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333333"/>
                </a:solidFill>
                <a:latin typeface="Calibri"/>
              </a:rPr>
              <a:t>SKU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0" y="3977640"/>
            <a:ext cx="2377440" cy="13716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4206240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200" b="1" i="0">
                <a:solidFill>
                  <a:srgbClr val="0E2D5C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502920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333333"/>
                </a:solidFill>
                <a:latin typeface="Calibri"/>
              </a:rPr>
              <a:t>магазини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35440" y="3977640"/>
            <a:ext cx="2377440" cy="13716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0" y="4206240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200" b="1" i="0">
                <a:solidFill>
                  <a:srgbClr val="0E2D5C"/>
                </a:solidFill>
                <a:latin typeface="Calibri"/>
              </a:rPr>
              <a:t>52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0" y="502920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333333"/>
                </a:solidFill>
                <a:latin typeface="Calibri"/>
              </a:rPr>
              <a:t>тижні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88888"/>
                </a:solidFill>
                <a:latin typeface="Calibri"/>
              </a:rPr>
              <a:t>SKU Sales Forecast  ·  УМ-з31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649224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888888"/>
                </a:solidFill>
                <a:latin typeface="Calibri"/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76F51"/>
                </a:solidFill>
                <a:latin typeface="Calibri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0E2D5C"/>
                </a:solidFill>
                <a:latin typeface="Calibri"/>
              </a:rPr>
              <a:t>EDA — тижневі продажі по категоріях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457200" cy="36576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1_weekly_by_categ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7315200" cy="25687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8288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E2D5C"/>
                </a:solidFill>
                <a:latin typeface="Calibri"/>
              </a:rPr>
              <a:t>Спостереження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2286000"/>
            <a:ext cx="36576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•  Смартфони — найбільший обсяг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•  Холодильники — літній пік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•  Ноутбуки — зростання у Q4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•  Чітка тижнева сезонність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•  Сплеск у Black Friday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88888"/>
                </a:solidFill>
                <a:latin typeface="Calibri"/>
              </a:rPr>
              <a:t>SKU Sales Forecast  ·  УМ-з31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649224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888888"/>
                </a:solidFill>
                <a:latin typeface="Calibri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76F51"/>
                </a:solidFill>
                <a:latin typeface="Calibri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0E2D5C"/>
                </a:solidFill>
                <a:latin typeface="Calibri"/>
              </a:rPr>
              <a:t>Модель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457200" cy="36576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E2D5C"/>
                </a:solidFill>
                <a:latin typeface="Calibri"/>
              </a:rPr>
              <a:t>Підхід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4864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300" b="1">
                <a:solidFill>
                  <a:srgbClr val="333333"/>
                </a:solidFill>
                <a:latin typeface="Calibri"/>
              </a:rPr>
              <a:t>•  LightGBM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 Gradient boosting на flat-таблиці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 Рекурсивний multi-step прогноз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 Train: тижні 1–44   ·   Test: 45–52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4348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E2D5C"/>
                </a:solidFill>
                <a:latin typeface="Calibri"/>
              </a:rPr>
              <a:t>Baseline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93776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 Naive seasonal: середнє за 4 останні тижні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0" y="1828800"/>
            <a:ext cx="5120640" cy="41148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0" y="196596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E2D5C"/>
                </a:solidFill>
                <a:latin typeface="Calibri"/>
              </a:rPr>
              <a:t>15 ознак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2423160"/>
            <a:ext cx="457200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333333"/>
                </a:solidFill>
                <a:latin typeface="Calibri"/>
              </a:rPr>
              <a:t>Категоріальні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store_id · sku_id · category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333333"/>
                </a:solidFill>
                <a:latin typeface="Calibri"/>
              </a:rPr>
              <a:t>Календарні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month · quarter · is_holiday_week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woy_sin · woy_cos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333333"/>
                </a:solidFill>
                <a:latin typeface="Calibri"/>
              </a:rPr>
              <a:t>Цінові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avg_price · promo_share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333333"/>
                </a:solidFill>
                <a:latin typeface="Calibri"/>
              </a:rPr>
              <a:t>Лаги і ковзні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qty_lag_1, 2, 4, 12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qty_roll_mean_4, 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88888"/>
                </a:solidFill>
                <a:latin typeface="Calibri"/>
              </a:rPr>
              <a:t>SKU Sales Forecast  ·  УМ-з31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649224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888888"/>
                </a:solidFill>
                <a:latin typeface="Calibri"/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76F51"/>
                </a:solidFill>
                <a:latin typeface="Calibri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0E2D5C"/>
                </a:solidFill>
                <a:latin typeface="Calibri"/>
              </a:rPr>
              <a:t>Метрики на тестовому періоді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457200" cy="36576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28800"/>
          <a:ext cx="111556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9280"/>
                <a:gridCol w="1859280"/>
                <a:gridCol w="1859280"/>
                <a:gridCol w="1859280"/>
                <a:gridCol w="1859280"/>
                <a:gridCol w="1859280"/>
              </a:tblGrid>
              <a:tr h="609600"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</a:rPr>
                        <a:t>Модель</a:t>
                      </a:r>
                    </a:p>
                  </a:txBody>
                  <a:tcPr>
                    <a:solidFill>
                      <a:srgbClr val="0E2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</a:rPr>
                        <a:t>WAPE</a:t>
                      </a:r>
                    </a:p>
                  </a:txBody>
                  <a:tcPr>
                    <a:solidFill>
                      <a:srgbClr val="0E2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</a:rPr>
                        <a:t>MAPE</a:t>
                      </a:r>
                    </a:p>
                  </a:txBody>
                  <a:tcPr>
                    <a:solidFill>
                      <a:srgbClr val="0E2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</a:rPr>
                        <a:t>MAE</a:t>
                      </a:r>
                    </a:p>
                  </a:txBody>
                  <a:tcPr>
                    <a:solidFill>
                      <a:srgbClr val="0E2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</a:rPr>
                        <a:t>RMSE</a:t>
                      </a:r>
                    </a:p>
                  </a:txBody>
                  <a:tcPr>
                    <a:solidFill>
                      <a:srgbClr val="0E2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</a:rPr>
                        <a:t>Bias</a:t>
                      </a:r>
                    </a:p>
                  </a:txBody>
                  <a:tcPr>
                    <a:solidFill>
                      <a:srgbClr val="0E2D5C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Baseline (naive 4w)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25.53%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50.90%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9.72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15.34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+12.19%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LightGBM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E2D5C"/>
                          </a:solidFill>
                        </a:rPr>
                        <a:t>25.24%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E2D5C"/>
                          </a:solidFill>
                        </a:rPr>
                        <a:t>59.26%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E2D5C"/>
                          </a:solidFill>
                        </a:rPr>
                        <a:t>9.61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E2D5C"/>
                          </a:solidFill>
                        </a:rPr>
                        <a:t>15.32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E2D5C"/>
                          </a:solidFill>
                        </a:rPr>
                        <a:t>+10.44%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93192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E2D5C"/>
                </a:solidFill>
                <a:latin typeface="Calibri"/>
              </a:rPr>
              <a:t>Висновок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389120"/>
            <a:ext cx="111556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 LightGBM кращий за baseline за WAPE та MAE/RMSE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 Bias помітний у обох моделей (+10–12%): прогноз систематично завищений у Q4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 MAPE гіперчутливий до тижнів з малими фактичними значеннями — основна метрика WAPE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88888"/>
                </a:solidFill>
                <a:latin typeface="Calibri"/>
              </a:rPr>
              <a:t>SKU Sales Forecast  ·  УМ-з31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649224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888888"/>
                </a:solidFill>
                <a:latin typeface="Calibri"/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76F51"/>
                </a:solidFill>
                <a:latin typeface="Calibri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0E2D5C"/>
                </a:solidFill>
                <a:latin typeface="Calibri"/>
              </a:rPr>
              <a:t>Що зумовлює прогноз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457200" cy="36576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3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6858000" cy="47649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80960" y="182880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E2D5C"/>
                </a:solidFill>
                <a:latin typeface="Calibri"/>
              </a:rPr>
              <a:t>Топ-сигнали моделі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0" y="2331720"/>
            <a:ext cx="41148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200" b="1">
                <a:solidFill>
                  <a:srgbClr val="333333"/>
                </a:solidFill>
                <a:latin typeface="Calibri"/>
              </a:rPr>
              <a:t>Попередній тиждень (lag_1)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найсильніший сигнал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200" b="1">
                <a:solidFill>
                  <a:srgbClr val="333333"/>
                </a:solidFill>
                <a:latin typeface="Calibri"/>
              </a:rPr>
              <a:t>Ковзне середнє за 4 тиж.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тренд останнього місяця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200" b="1">
                <a:solidFill>
                  <a:srgbClr val="333333"/>
                </a:solidFill>
                <a:latin typeface="Calibri"/>
              </a:rPr>
              <a:t>Ціна і промо-частка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реакція на знижки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200" b="1">
                <a:solidFill>
                  <a:srgbClr val="333333"/>
                </a:solidFill>
                <a:latin typeface="Calibri"/>
              </a:rPr>
              <a:t>Сезонність woy_sin/cos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річна циклічність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88888"/>
                </a:solidFill>
                <a:latin typeface="Calibri"/>
              </a:rPr>
              <a:t>SKU Sales Forecast  ·  УМ-з31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649224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888888"/>
                </a:solidFill>
                <a:latin typeface="Calibri"/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76F51"/>
                </a:solidFill>
                <a:latin typeface="Calibri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0E2D5C"/>
                </a:solidFill>
                <a:latin typeface="Calibri"/>
              </a:rPr>
              <a:t>Прогноз vs факт — приклади SKU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457200" cy="36576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4_forecast_vs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1783080"/>
            <a:ext cx="6438686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08076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1">
                <a:solidFill>
                  <a:srgbClr val="888888"/>
                </a:solidFill>
                <a:latin typeface="Calibri"/>
              </a:rPr>
              <a:t>LightGBM (помаранчевий) точніше відтворює тренд порівняно з baseline (сірий пунктир).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88888"/>
                </a:solidFill>
                <a:latin typeface="Calibri"/>
              </a:rPr>
              <a:t>SKU Sales Forecast  ·  УМ-з31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649224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888888"/>
                </a:solidFill>
                <a:latin typeface="Calibri"/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76F51"/>
                </a:solidFill>
                <a:latin typeface="Calibri"/>
              </a:rP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0E2D5C"/>
                </a:solidFill>
                <a:latin typeface="Calibri"/>
              </a:rPr>
              <a:t>Як прогноз перетворюється на замовлення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457200" cy="36576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371600" y="1828800"/>
            <a:ext cx="9418320" cy="914400"/>
          </a:xfrm>
          <a:prstGeom prst="roundRect">
            <a:avLst/>
          </a:prstGeom>
          <a:solidFill>
            <a:srgbClr val="0E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011680"/>
            <a:ext cx="9418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onsolas"/>
              </a:rPr>
              <a:t>Q = Fct − St − GiT + SS_Fct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108960"/>
            <a:ext cx="2697480" cy="13716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38328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E76F51"/>
                </a:solidFill>
                <a:latin typeface="Consolas"/>
              </a:rPr>
              <a:t>Fct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93192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333333"/>
                </a:solidFill>
                <a:latin typeface="Calibri"/>
              </a:rPr>
              <a:t>прогноз продажів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3108960"/>
            <a:ext cx="2697480" cy="13716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338328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E76F51"/>
                </a:solidFill>
                <a:latin typeface="Consolas"/>
              </a:rPr>
              <a:t>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393192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333333"/>
                </a:solidFill>
                <a:latin typeface="Calibri"/>
              </a:rPr>
              <a:t>поточний залишок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3108960"/>
            <a:ext cx="2697480" cy="13716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0" y="338328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E76F51"/>
                </a:solidFill>
                <a:latin typeface="Consolas"/>
              </a:rPr>
              <a:t>GiT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393192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333333"/>
                </a:solidFill>
                <a:latin typeface="Calibri"/>
              </a:rPr>
              <a:t>товар у дорозі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15400" y="3108960"/>
            <a:ext cx="2697480" cy="13716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15400" y="338328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E76F51"/>
                </a:solidFill>
                <a:latin typeface="Consolas"/>
              </a:rPr>
              <a:t>SS_Fct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93192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333333"/>
                </a:solidFill>
                <a:latin typeface="Calibri"/>
              </a:rPr>
              <a:t>страховий запас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84632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E2D5C"/>
                </a:solidFill>
                <a:latin typeface="Calibri"/>
              </a:rPr>
              <a:t>Приклад: SKU 64502, магазин 215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25780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 i="0">
                <a:solidFill>
                  <a:srgbClr val="333333"/>
                </a:solidFill>
                <a:latin typeface="Consolas"/>
              </a:rPr>
              <a:t>Fct=152   −   St=74   −   GiT=37   +   SS=4   =   Q = 45 одиниць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88888"/>
                </a:solidFill>
                <a:latin typeface="Calibri"/>
              </a:rPr>
              <a:t>SKU Sales Forecast  ·  УМ-з31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649224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888888"/>
                </a:solidFill>
                <a:latin typeface="Calibri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76F51"/>
                </a:solidFill>
                <a:latin typeface="Calibri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0E2D5C"/>
                </a:solidFill>
                <a:latin typeface="Calibri"/>
              </a:rPr>
              <a:t>Бізнес-ефект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457200" cy="36576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5486400" cy="1920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E76F51"/>
                </a:solidFill>
                <a:latin typeface="Calibri"/>
              </a:rPr>
              <a:t>−40%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517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E2D5C"/>
                </a:solidFill>
                <a:latin typeface="Calibri"/>
              </a:rPr>
              <a:t>OOS-rate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063240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з 12–15% до 7–8%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→ зростання GMV ~3%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828800"/>
            <a:ext cx="5486400" cy="1920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01168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E76F51"/>
                </a:solidFill>
                <a:latin typeface="Calibri"/>
              </a:rPr>
              <a:t>−12%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6517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E2D5C"/>
                </a:solidFill>
                <a:latin typeface="Calibri"/>
              </a:rPr>
              <a:t>Over-stock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3063240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звільнення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оборотних коштів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023360"/>
            <a:ext cx="5486400" cy="1920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20624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E76F51"/>
                </a:solidFill>
                <a:latin typeface="Calibri"/>
              </a:rPr>
              <a:t>−20 год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8463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E2D5C"/>
                </a:solidFill>
                <a:latin typeface="Calibri"/>
              </a:rPr>
              <a:t>час планувальника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257800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автоматизація рутинного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планування на тиждень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4023360"/>
            <a:ext cx="5486400" cy="1920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420624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E76F51"/>
                </a:solidFill>
                <a:latin typeface="Calibri"/>
              </a:rPr>
              <a:t>$50k+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48463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E2D5C"/>
                </a:solidFill>
                <a:latin typeface="Calibri"/>
              </a:rPr>
              <a:t>економія SaaS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5257800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відмова від o9, RELEX,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Quintiq на пілот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88888"/>
                </a:solidFill>
                <a:latin typeface="Calibri"/>
              </a:rPr>
              <a:t>SKU Sales Forecast  ·  УМ-з31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649224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888888"/>
                </a:solidFill>
                <a:latin typeface="Calibri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76F51"/>
                </a:solidFill>
                <a:latin typeface="Calibri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0E2D5C"/>
                </a:solidFill>
                <a:latin typeface="Calibri"/>
              </a:rPr>
              <a:t>Висновки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457200" cy="36576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11556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300" b="1">
                <a:solidFill>
                  <a:srgbClr val="333333"/>
                </a:solidFill>
                <a:latin typeface="Calibri"/>
              </a:rPr>
              <a:t>•  Розріз SKU × магазин × тиждень працює.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 LightGBM забезпечує WAPE ≈ 25%, обігнавши naive-baseline за основними метриками.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300" b="1">
                <a:solidFill>
                  <a:srgbClr val="333333"/>
                </a:solidFill>
                <a:latin typeface="Calibri"/>
              </a:rPr>
              <a:t>•  Lag-1 і rolling-mean-4 — ключові ознаки.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 Без них модель не реагує на тренд.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300" b="1">
                <a:solidFill>
                  <a:srgbClr val="333333"/>
                </a:solidFill>
                <a:latin typeface="Calibri"/>
              </a:rPr>
              <a:t>•  Категорія матеріальна.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 Смартфони — WAPE 21%, холодильники — 35%. Для рідкісних SKU треба окремі моделі.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8348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E2D5C"/>
                </a:solidFill>
                <a:latin typeface="Calibri"/>
              </a:rPr>
              <a:t>Що далі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349240"/>
            <a:ext cx="111556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•  Розширити горизонт до 8–12 тижнів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•  Додати зовнішні регресори: курс валют, погода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•  Замінити рекурсивний прогноз на direct multi-step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88888"/>
                </a:solidFill>
                <a:latin typeface="Calibri"/>
              </a:rPr>
              <a:t>SKU Sales Forecast  ·  УМ-з31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649224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888888"/>
                </a:solidFill>
                <a:latin typeface="Calibri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