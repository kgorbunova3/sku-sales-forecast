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БІЗНЕС-ПРОГНОЗУВАННЯ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E2D5C"/>
                </a:solidFill>
                <a:latin typeface="Calibri"/>
              </a:rPr>
              <a:t>Прогноз продажу товарів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33333"/>
                </a:solidFill>
                <a:latin typeface="Calibri"/>
              </a:rPr>
              <a:t>у розрізі SKU × магазин на 4 тижні наперед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1097280" cy="457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Виконавець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Горбунова Крістіна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група УМ-з31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Бізнес-проблема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OUT-OF-STOCK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2D5C"/>
                </a:solidFill>
                <a:latin typeface="Calibri"/>
              </a:rPr>
              <a:t>Товар закінчився на складі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клієнт не знаходить товар і йде до конкурента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пряма втрата виручки (GMV)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ризик зниження customer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864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OVER-STOCK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2D5C"/>
                </a:solidFill>
                <a:latin typeface="Calibri"/>
              </a:rPr>
              <a:t>Перевитрата на складі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0632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заморожені оборотні кошти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витрати на зберігання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ризик уцінки і списання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333333"/>
                </a:solidFill>
                <a:latin typeface="Calibri"/>
              </a:rPr>
              <a:t>Ручне планування десятків тисяч SKU не масштабується.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Calibri"/>
              </a:rPr>
              <a:t>Потрібен автоматичний прогноз продажів у розрізі SKU × магазин.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Мета проекту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Спрогнозувати тижневі продажі у розрізі SKU × магазин на 4 тижні наперед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65760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SKU ×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гранулярність прогнозу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65760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тиждень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часовий крок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743200"/>
            <a:ext cx="365760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4 тижні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горизонт прогнозу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  <a:latin typeface="Calibri"/>
              </a:rPr>
              <a:t>Формула планування замовлення: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349240"/>
            <a:ext cx="7589520" cy="731520"/>
          </a:xfrm>
          <a:prstGeom prst="roundRect">
            <a:avLst/>
          </a:prstGeom>
          <a:solidFill>
            <a:srgbClr val="0E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545896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Q = Fct − St − GiT + SS_Fct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Дані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D5C"/>
                </a:solidFill>
                <a:latin typeface="Calibri"/>
              </a:rPr>
              <a:t>Синтетичний датасет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3 категорії: ноутбуки, смартфони, холодильники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15 SKU × 2 магазини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366 днів історії (повний рік)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Тижнева і річна сезонність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Свята: 8 березня, 1 травня, 24 серпня, Black Friday, Новий рік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Випадкові акції зі знижкою −10%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D5C"/>
                </a:solidFill>
                <a:latin typeface="Calibri"/>
              </a:rPr>
              <a:t>В цифрах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377440"/>
            <a:ext cx="237744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10 980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29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рядків датасету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377440"/>
            <a:ext cx="237744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6060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429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SKU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977640"/>
            <a:ext cx="237744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062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магазини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977640"/>
            <a:ext cx="237744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2062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E2D5C"/>
                </a:solidFill>
                <a:latin typeface="Calibri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029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тижні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EDA, тижневі продажі по категоріях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weekly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315200" cy="2568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2D5C"/>
                </a:solidFill>
                <a:latin typeface="Calibri"/>
              </a:rPr>
              <a:t>Спостереження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Смартфони, найбільший обсяг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Холодильники, літній пік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Ноутбуки, зростання у Q4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Чітка тижнева сезонність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Сплеск у Black Friday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D5C"/>
                </a:solidFill>
                <a:latin typeface="Calibri"/>
              </a:rPr>
              <a:t>Підхід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LightGBM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Gradient boosting на flat-таблиці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Рекурсивний multi-step прогноз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Train: тижні 1–44   ·   Test: 45–52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D5C"/>
                </a:solidFill>
                <a:latin typeface="Calibri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Naive seasonal: середнє за 4 останні тижні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512064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15 ознак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231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Категоріальні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store_id · sku_id · category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Календарні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month · quarter · is_holiday_week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woy_sin · woy_cos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Цінові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avg_price · promo_share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Лаги і ковзні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qty_lag_1, 2, 4, 12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qty_roll_mean_4,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Метрики на тестовому періоді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Модель</a:t>
                      </a:r>
                    </a:p>
                  </a:txBody>
                  <a:tcPr>
                    <a:solidFill>
                      <a:srgbClr val="0E2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WAPE</a:t>
                      </a:r>
                    </a:p>
                  </a:txBody>
                  <a:tcPr>
                    <a:solidFill>
                      <a:srgbClr val="0E2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0E2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0E2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0E2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</a:txBody>
                  <a:tcPr>
                    <a:solidFill>
                      <a:srgbClr val="0E2D5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Baseline (naive 4w)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15.34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+12.19%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LightGBM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D5C"/>
                          </a:solidFill>
                        </a:rPr>
                        <a:t>25.24%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D5C"/>
                          </a:solidFill>
                        </a:rPr>
                        <a:t>59.26%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D5C"/>
                          </a:solidFill>
                        </a:rPr>
                        <a:t>9.61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D5C"/>
                          </a:solidFill>
                        </a:rPr>
                        <a:t>15.32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D5C"/>
                          </a:solidFill>
                        </a:rPr>
                        <a:t>+10.44%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Висновок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LightGBM кращий за baseline за WAPE та MAE/RMSE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Bias помітний у обох моделей (+10–12%): прогноз систематично завищений у Q4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MAPE гіперчутливий до тижнів з малими фактичними значеннями, основна метрика WAPE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Що зумовлює прогноз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858000" cy="47649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2D5C"/>
                </a:solidFill>
                <a:latin typeface="Calibri"/>
              </a:rPr>
              <a:t>Топ-сигнали моделі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33172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Попередній тиждень (lag_1)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найсильніший сигнал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Ковзне середнє за 4 тиж.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тренд останнього місяця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Ціна і промо-частка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реакція на знижки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Сезонність woy_sin/cos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річна циклічність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Прогноз vs факт, приклади SKU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783080"/>
            <a:ext cx="6438686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  <a:latin typeface="Calibri"/>
              </a:rPr>
              <a:t>LightGBM (помаранчевий) точніше відтворює тренд порівняно з baseline (сірий пунктир).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Як прогноз перетворюється на замовлення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914400"/>
          </a:xfrm>
          <a:prstGeom prst="roundRect">
            <a:avLst/>
          </a:prstGeom>
          <a:solidFill>
            <a:srgbClr val="0E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solas"/>
              </a:rPr>
              <a:t>Q = Fct − St − GiT + SS_Fct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69748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E76F51"/>
                </a:solidFill>
                <a:latin typeface="Consolas"/>
              </a:rPr>
              <a:t>Fct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прогноз продажів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108960"/>
            <a:ext cx="269748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E76F51"/>
                </a:solidFill>
                <a:latin typeface="Consolas"/>
              </a:rPr>
              <a:t>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поточний залишок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08960"/>
            <a:ext cx="269748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E76F51"/>
                </a:solidFill>
                <a:latin typeface="Consolas"/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товар у дорозі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108960"/>
            <a:ext cx="269748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383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E76F51"/>
                </a:solidFill>
                <a:latin typeface="Consolas"/>
              </a:rPr>
              <a:t>SS_Fct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страховий запас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2D5C"/>
                </a:solidFill>
                <a:latin typeface="Calibri"/>
              </a:rPr>
              <a:t>Приклад: SKU 64502, магазин 215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Fct=152   −   St=74   −   GiT=37   +   SS=4   =   Q = 45 одиниць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Бізнес-ефект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76F51"/>
                </a:solidFill>
                <a:latin typeface="Calibri"/>
              </a:rPr>
              <a:t>−40%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OOS-rate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з 12–15% до 7–8%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→ зростання GMV ~3%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864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76F51"/>
                </a:solidFill>
                <a:latin typeface="Calibri"/>
              </a:rPr>
              <a:t>−12%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Over-stock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063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звільнення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оборотних коштів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4864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76F51"/>
                </a:solidFill>
                <a:latin typeface="Calibri"/>
              </a:rPr>
              <a:t>−20 год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час планувальника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автоматизація рутинного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планування на тиждень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23360"/>
            <a:ext cx="54864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062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76F51"/>
                </a:solidFill>
                <a:latin typeface="Calibri"/>
              </a:rPr>
              <a:t>$50k+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економія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2578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відмова від o9, RELEX,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Quintiq на пілот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2D5C"/>
                </a:solidFill>
                <a:latin typeface="Calibri"/>
              </a:rPr>
              <a:t>Висновки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3657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Розріз SKU × магазин × тиждень працює.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LightGBM забезпечує WAPE ≈ 25%, обігнавши naive-baseline за основними метриками.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Lag-1 і rolling-mean-4, ключові ознаки.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Без них модель не реагує на тренд.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Категорія матеріальна.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Смартфони, WAPE 21%, холодильники, 35%. Для рідкісних SKU треба окремі моделі.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D5C"/>
                </a:solidFill>
                <a:latin typeface="Calibri"/>
              </a:rPr>
              <a:t>Що далі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Розширити горизонт до 8–12 тижнів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Додати зовнішні регресори: курс валют, погода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Замінити рекурсивний прогноз на direct multi-step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SKU Sales Forecast  ·  УМ-з31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